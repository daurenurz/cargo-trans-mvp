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АО «НАЦИОНАЛЬНАЯ КОМПАНИЯ «ҚАЗАҚСТАН ТЕМІР ЖОЛЫ»</a:t>
            </a:r>
            <a:br/>
            <a:r>
              <a:t>АО «ПАССАЖИРСКИЕ ПЕРЕВОЗКИ»</a:t>
            </a:r>
          </a:p>
          <a:p>
            <a:pPr>
              <a:spcBef>
                <a:spcPts val="1800"/>
              </a:spcBef>
              <a:defRPr sz="3200" b="1">
                <a:solidFill>
                  <a:srgbClr val="F8FAFC"/>
                </a:solidFill>
              </a:defRPr>
            </a:pPr>
            <a:r>
              <a:t>Цифровая система учета багажных</a:t>
            </a:r>
            <a:br/>
            <a:r>
              <a:t>и грузобагажных перевозок «Cargo Trans»</a:t>
            </a:r>
          </a:p>
          <a:p>
            <a:pPr>
              <a:spcBef>
                <a:spcPts val="1400"/>
              </a:spcBef>
              <a:defRPr sz="1600">
                <a:solidFill>
                  <a:srgbClr val="38BDF8"/>
                </a:solidFill>
              </a:defRPr>
            </a:pPr>
            <a:r>
              <a:t>Почему цифровая система превосходит бумажный учет: цифры, факты и итоги испытаний</a:t>
            </a:r>
          </a:p>
          <a:p>
            <a:pPr>
              <a:spcBef>
                <a:spcPts val="3600"/>
              </a:spcBef>
              <a:defRPr sz="1200">
                <a:solidFill>
                  <a:srgbClr val="94A3B8"/>
                </a:solidFill>
              </a:defRPr>
            </a:pPr>
            <a:r>
              <a:t>Протокол испытаний от 30.07.2026 г. № 63-ЦЛ  |  г. Астана,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1. ПРОБЛЕМА БУМАЖНОЙ СИСТЕМЫ В ЦИФРАХ (AS IS)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Почему текущий бумажный учет замедляет работу и создает убытки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7171"/>
                </a:solidFill>
              </a:defRPr>
            </a:pPr>
            <a:r>
              <a:t>8–12 минут  —  Время оформления 1 пассажира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Ручное заполнение 4 бумажных квитанций, ручной поиск тарифов в справочниках и сверка билетов на скидку 50%.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6304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64592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7171"/>
                </a:solidFill>
              </a:defRPr>
            </a:pPr>
            <a:r>
              <a:t>До 15–20%  —  Неучтенный перевес грузов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224028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Перевозка багажа с невыявленным перевесом из-за отсутствия обязательного цифрового взвешивания и автоконтроля.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7171"/>
                </a:solidFill>
              </a:defRPr>
            </a:pPr>
            <a:r>
              <a:t>3–5 минут  —  Время на 1 место при погрузке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Приемосдатчик поезда вручную ищет и сверяет номер каждого багажного места по бумажной ведомости на перроне.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93192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411480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7171"/>
                </a:solidFill>
              </a:defRPr>
            </a:pPr>
            <a:r>
              <a:t>2–3 дня  —  Поиск затерянного багажа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470916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При утере или пересортице багаж ищется путем обзвона станций. 0% онлайн-видимости местонахождения.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2. РИСКИ СОХРАНЕНИЯ БУМАЖНОЙ СИСТЕМЫ (STATUS QUO)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Финансовые потери, операционные задержки и угрозы безопасности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⚠️  Финансовые потери до 15% дохода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Из-за отсутствия сквозного автоконтроля веса и ошибок ручного вычисления скидок компания теряет существенную часть выручки.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1072865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⚠️  Риск ошибочной выдачи (0% защиты)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Выдача по бумажному талону без PIN-кода создаёт уязвимость для мошенничества и ошибочной отдачи груза чужому человеку.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⚠️  Рост жалоб клиентов (до +30%)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Отсутствие трекинга приводит к постоянным обращениям пассажиров в call-центр и недовольству качеством сервиса КТЖ.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72865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⚠️  Нулевой аудит (100% зависимость)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При порче или недостаче багажа невозможно установить виновного сотрудника: бумажные журналы не фиксируют автора и точное время.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3. ИТОГИ ПИЛОТНОГО ПРОЕКТА В ЦИФРАХ (ПРОТОКОЛ 30.07.2026)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Конкретные показатели работы цифровой системы Cargo Trans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56432" cy="21488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4564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ADE80"/>
                </a:solidFill>
              </a:defRPr>
            </a:pPr>
            <a:r>
              <a:t>17 / 17</a:t>
            </a:r>
          </a:p>
          <a:p>
            <a:pPr algn="ctr"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100% функций успешно сдано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463040"/>
            <a:ext cx="3456432" cy="21488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70832" y="1737360"/>
            <a:ext cx="34564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ADE80"/>
                </a:solidFill>
              </a:defRPr>
            </a:pPr>
            <a:r>
              <a:t>0</a:t>
            </a:r>
          </a:p>
          <a:p>
            <a:pPr algn="ctr"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Критический ошибок и отказов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463040"/>
            <a:ext cx="3456432" cy="21488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737360"/>
            <a:ext cx="34564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45 сек</a:t>
            </a:r>
          </a:p>
          <a:p>
            <a:pPr algn="ctr"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Время выписки накладной (в 12 раз быстрее)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3456432" cy="21488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4564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1.5 сек</a:t>
            </a:r>
          </a:p>
          <a:p>
            <a:pPr algn="ctr"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Сканирование ТСД (в 100 раз быстрее)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840480"/>
            <a:ext cx="3456432" cy="21488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4114800"/>
            <a:ext cx="34564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BBF24"/>
                </a:solidFill>
              </a:defRPr>
            </a:pPr>
            <a:r>
              <a:t>100%</a:t>
            </a:r>
          </a:p>
          <a:p>
            <a:pPr algn="ctr"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Защита выдачи по WhatsApp PIN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3840480"/>
            <a:ext cx="3456432" cy="21488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0144" y="4114800"/>
            <a:ext cx="34564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BBF24"/>
                </a:solidFill>
              </a:defRPr>
            </a:pPr>
            <a:r>
              <a:t>100%</a:t>
            </a:r>
          </a:p>
          <a:p>
            <a:pPr algn="ctr"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Готовность к опытной эксплуатации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4. ПОЧЕМУ CARGO TRANS ЛУЧШЕ БУМАЖНОЙ СИСТЕМЫ: МЕТРИКИ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Прямое сравнение ключевых показателей эффективности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92608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Показатель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371600"/>
            <a:ext cx="3291840" cy="50292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141732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Бумажная система (Было)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371600"/>
            <a:ext cx="4327855" cy="50292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4173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Cargo Trans (Стало / Эффект)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65960"/>
            <a:ext cx="292608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7568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Время оформления накладной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965960"/>
            <a:ext cx="329184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07568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7171"/>
                </a:solidFill>
              </a:defRPr>
            </a:pPr>
            <a:r>
              <a:t>✖  8 – 12 минут (ручной ввод)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1965960"/>
            <a:ext cx="4327855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2057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ADE80"/>
                </a:solidFill>
              </a:defRPr>
            </a:pPr>
            <a:r>
              <a:t>✔  до 45 секунд (авторасчет)</a:t>
            </a:r>
          </a:p>
          <a:p>
            <a:pPr>
              <a:defRPr sz="1100">
                <a:solidFill>
                  <a:srgbClr val="FBBF24"/>
                </a:solidFill>
              </a:defRPr>
            </a:pPr>
            <a:r>
              <a:t>★  Ускорение в 12 раз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97480"/>
            <a:ext cx="292608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0720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Погрузка 1 места в вагон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2697480"/>
            <a:ext cx="329184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280720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7171"/>
                </a:solidFill>
              </a:defRPr>
            </a:pPr>
            <a:r>
              <a:t>✖  3 – 5 минут (ручной поиск)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2697480"/>
            <a:ext cx="4327855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788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ADE80"/>
                </a:solidFill>
              </a:defRPr>
            </a:pPr>
            <a:r>
              <a:t>✔  1.5 секунды (сканер ТСД)</a:t>
            </a:r>
          </a:p>
          <a:p>
            <a:pPr>
              <a:defRPr sz="1100">
                <a:solidFill>
                  <a:srgbClr val="FBBF24"/>
                </a:solidFill>
              </a:defRPr>
            </a:pPr>
            <a:r>
              <a:t>★  Ускорение в 120 раз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429000"/>
            <a:ext cx="292608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538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Контроль перевеса груза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39" y="3429000"/>
            <a:ext cx="329184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353872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7171"/>
                </a:solidFill>
              </a:defRPr>
            </a:pPr>
            <a:r>
              <a:t>✖  До 20% невыявленного перевеса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3429000"/>
            <a:ext cx="4327855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35204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ADE80"/>
                </a:solidFill>
              </a:defRPr>
            </a:pPr>
            <a:r>
              <a:t>✔  100% автофиксация и доплата</a:t>
            </a:r>
          </a:p>
          <a:p>
            <a:pPr>
              <a:defRPr sz="1100">
                <a:solidFill>
                  <a:srgbClr val="FBBF24"/>
                </a:solidFill>
              </a:defRPr>
            </a:pPr>
            <a:r>
              <a:t>★  Устранение финансовых потерь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160520"/>
            <a:ext cx="292608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27024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Безопасность выдачи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49039" y="4160520"/>
            <a:ext cx="329184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427024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7171"/>
                </a:solidFill>
              </a:defRPr>
            </a:pPr>
            <a:r>
              <a:t>✖  0% защиты (ручной бумажный талон)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0" y="4160520"/>
            <a:ext cx="4327855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42519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ADE80"/>
                </a:solidFill>
              </a:defRPr>
            </a:pPr>
            <a:r>
              <a:t>✔  100% верификация (PIN WhatsApp)</a:t>
            </a:r>
          </a:p>
          <a:p>
            <a:pPr>
              <a:defRPr sz="1100">
                <a:solidFill>
                  <a:srgbClr val="FBBF24"/>
                </a:solidFill>
              </a:defRPr>
            </a:pPr>
            <a:r>
              <a:t>★  Исключение мошенничества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892040"/>
            <a:ext cx="292608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00176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Время поиска багажа в пути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49039" y="4892040"/>
            <a:ext cx="329184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0" y="500176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7171"/>
                </a:solidFill>
              </a:defRPr>
            </a:pPr>
            <a:r>
              <a:t>✖  2 – 3 дня (обзвон станций)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0" y="4892040"/>
            <a:ext cx="4327855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0" y="49834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ADE80"/>
                </a:solidFill>
              </a:defRPr>
            </a:pPr>
            <a:r>
              <a:t>✔  1 секунда (онлайн трекинг)</a:t>
            </a:r>
          </a:p>
          <a:p>
            <a:pPr>
              <a:defRPr sz="1100">
                <a:solidFill>
                  <a:srgbClr val="FBBF24"/>
                </a:solidFill>
              </a:defRPr>
            </a:pPr>
            <a:r>
              <a:t>★  Мгновенная видимость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623560"/>
            <a:ext cx="292608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73328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Формирование отчетности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49039" y="5623560"/>
            <a:ext cx="329184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0" y="573328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7171"/>
                </a:solidFill>
              </a:defRPr>
            </a:pPr>
            <a:r>
              <a:t>✖  Дни сбора файлов Excel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32320" y="5623560"/>
            <a:ext cx="4327855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57150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ADE80"/>
                </a:solidFill>
              </a:defRPr>
            </a:pPr>
            <a:r>
              <a:t>✔  Секунды из единой базы</a:t>
            </a:r>
          </a:p>
          <a:p>
            <a:pPr>
              <a:defRPr sz="1100">
                <a:solidFill>
                  <a:srgbClr val="FBBF24"/>
                </a:solidFill>
              </a:defRPr>
            </a:pPr>
            <a:r>
              <a:t>★  Автоматизация отчетности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5. ЭКОНОМИЧЕСКИЙ И ОПЕРАЦИОННЫЙ ЭФФЕКТ ПО УРОВНЯМ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Измеримая выгода для пассажиров, работников и руководства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564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Пассажирам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✓  Сокращение очереди с 12 до 1 мин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✓  Гарантия скидки 50% по билету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✓  100% WhatsApp PIN-защита выдачи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✓  Сервис курьерской доставки до дома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463040"/>
            <a:ext cx="34564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4592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ADE80"/>
                </a:solidFill>
              </a:defRPr>
            </a:pPr>
            <a:r>
              <a:t>Персоналу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✓  Ускорение работы в 10+ раз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✓  Сканирование ТСД за 1.5 секунды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✓  Авторасчет доплаты за перевес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✓  Исключение бумажной рутины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463040"/>
            <a:ext cx="34564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1645920"/>
            <a:ext cx="3090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</a:defRPr>
            </a:pPr>
            <a:r>
              <a:t>Руководству КТЖ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✓  Устранение 15-20% финансовых потерь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✓  100% Audit Log действий персонала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✓  Отчетность за секунды из БД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✓  Снижение человеческого фактора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6. ДОРОЖНАЯ КАРТА ПЕРЕХОДА К ОПЫТНО-ПРОМЫШЛЕННОЙ ЭКСПЛУАТАЦИИ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План масштабирования цифровой системы на всю сеть КТЖ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420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26771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ЭТАП 1: Организационный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Сентябрь 2026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Принятие решения руководства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Определение владельца процесса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Утверждение регламента работы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63040"/>
            <a:ext cx="25420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600200"/>
            <a:ext cx="226771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ЭТАП 2: Опытная эксплуатация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Октябрь - Ноябрь 2026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Развертывание в 5 ключевых узлах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Закупка ТСД и QR-принтеров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Обучение приемосдатчиков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463040"/>
            <a:ext cx="25420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600200"/>
            <a:ext cx="226771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DE80"/>
                </a:solidFill>
              </a:defRPr>
            </a:pPr>
            <a:r>
              <a:t>ЭТАП 3: Интеграции &amp; ИБ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Декабрь 2026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Интеграция с билетными системами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Подключение POS-терминалов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Аттестация по требованиям ИБ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463040"/>
            <a:ext cx="25420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1600200"/>
            <a:ext cx="226771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ЭТАП 4: Промышленный запуск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1 Квартал 2027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Масштабирование на всю сеть КТЖ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100% отказ от бумажных журналов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 Статус промышленной АС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7. ПРИЗЫВ К ДЕЙСТВИЮ: НЕОБХОДИМЫЕ РЕШЕНИЯ РУКОВОДСТВА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Ключевые управленческие шаги для старта опытно-промышленного этапа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1. Переход к опытно-промышленной эксплуатации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</a:defRPr>
            </a:pPr>
            <a:r>
              <a:t>Одобрить протокол испытаний от 30.07.2026 г. №63-ЦЛ и санкционировать запуск опытного этапа.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728655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9631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2. Назначение официального владельца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</a:defRPr>
            </a:pPr>
            <a:r>
              <a:t>Закрепить ответственность за функционирование системы за Исполнительным директором по интермодальным перевозкам.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3. Утверждение регламента работы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</a:defRPr>
            </a:pPr>
            <a:r>
              <a:t>Утвердить обязательный регламент внесения сведений в Cargo Trans для всех приемосдатчиков станций и поездов.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728655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1655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4. Оснащение ТСД &amp; Инфраструктура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</a:defRPr>
            </a:pPr>
            <a:r>
              <a:t>Поручить ИТ-блоку КТЖ выделить серверам ресурсы, закупить ТСД-сканеры и связать с кассами.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7667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5. Прохождение аттестации ИБ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</a:defRPr>
            </a:pPr>
            <a:r>
              <a:t>Обеспечить прохождение обязательных проверок и требований информационной безопасности КТЖ.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8463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BF24"/>
                </a:solidFill>
              </a:defRPr>
            </a:pPr>
            <a:r>
              <a:t>Благодарим за внимание!</a:t>
            </a:r>
          </a:p>
          <a:p>
            <a:pPr algn="ctr">
              <a:spcBef>
                <a:spcPts val="2400"/>
              </a:spcBef>
              <a:defRPr sz="1800">
                <a:solidFill>
                  <a:srgbClr val="F8FAFC"/>
                </a:solidFill>
              </a:defRPr>
            </a:pPr>
            <a:r>
              <a:t>Цифровая система Cargo Trans готова вывести багажные перевозки АО «Пассажирские перевозки» на современный уровень эффективности.</a:t>
            </a:r>
          </a:p>
          <a:p>
            <a:pPr algn="ctr">
              <a:spcBef>
                <a:spcPts val="4000"/>
              </a:spcBef>
              <a:defRPr sz="1400">
                <a:solidFill>
                  <a:srgbClr val="38BDF8"/>
                </a:solidFill>
              </a:defRPr>
            </a:pPr>
            <a:r>
              <a:t>АО «Пассажирские перевозки»  •  АО «НК «Қазақстан темір жолы»</a:t>
            </a:r>
            <a:br/>
            <a:r>
              <a:t>Астана,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